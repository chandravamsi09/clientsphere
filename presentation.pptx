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46720" y="1097280"/>
            <a:ext cx="347472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8FAFC"/>
                </a:solidFill>
                <a:latin typeface="Segoe UI"/>
              </a:defRPr>
            </a:pPr>
            <a:r>
              <a:t>CLIENTSPHERE</a:t>
            </a:r>
          </a:p>
          <a:p>
            <a:pPr>
              <a:defRPr sz="2000" b="1">
                <a:solidFill>
                  <a:srgbClr val="38BDF8"/>
                </a:solidFill>
                <a:latin typeface="Segoe UI"/>
              </a:defRPr>
            </a:pPr>
            <a:r>
              <a:t>Production-Oriented Mobile CRM Application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Cross-Platform Enterprise UI Foundation &amp; Dual-Architectural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13716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000" b="1">
                <a:solidFill>
                  <a:srgbClr val="38BDF8"/>
                </a:solidFill>
                <a:latin typeface="Segoe UI"/>
              </a:defRPr>
            </a:pPr>
            <a:r>
              <a:t>TEAM MEMBERS</a:t>
            </a:r>
          </a:p>
          <a:p>
            <a:pPr>
              <a:defRPr sz="1300">
                <a:solidFill>
                  <a:srgbClr val="F8FAFC"/>
                </a:solidFill>
                <a:latin typeface="Segoe UI"/>
              </a:defRPr>
            </a:pPr>
            <a:r>
              <a:t>Person 1: Core Architecture &amp; Logic</a:t>
            </a:r>
            <a:br/>
            <a:r>
              <a:t>Person 2: UI/UX, Navigation &amp; Shell</a:t>
            </a:r>
          </a:p>
          <a:p>
            <a:pPr>
              <a:spcBef>
                <a:spcPts val="800"/>
              </a:spcBef>
              <a:defRPr sz="1000" b="1">
                <a:solidFill>
                  <a:srgbClr val="38BDF8"/>
                </a:solidFill>
                <a:latin typeface="Segoe UI"/>
              </a:defRPr>
            </a:pPr>
            <a:r>
              <a:t>GUIDE / MENTOR</a:t>
            </a:r>
          </a:p>
          <a:p>
            <a:pPr>
              <a:defRPr sz="1300">
                <a:solidFill>
                  <a:srgbClr val="F8FAFC"/>
                </a:solidFill>
                <a:latin typeface="Segoe UI"/>
              </a:defRPr>
            </a:pPr>
            <a:r>
              <a:t>Project Faculty Supervisor</a:t>
            </a:r>
          </a:p>
          <a:p>
            <a:pPr>
              <a:spcBef>
                <a:spcPts val="800"/>
              </a:spcBef>
              <a:defRPr sz="1000" b="1">
                <a:solidFill>
                  <a:srgbClr val="38BDF8"/>
                </a:solidFill>
                <a:latin typeface="Segoe UI"/>
              </a:defRPr>
            </a:pPr>
            <a:r>
              <a:t>DEPARTMENT &amp; INSTITUTION</a:t>
            </a:r>
          </a:p>
          <a:p>
            <a:pPr>
              <a:defRPr sz="1300">
                <a:solidFill>
                  <a:srgbClr val="F8FAFC"/>
                </a:solidFill>
                <a:latin typeface="Segoe UI"/>
              </a:defRPr>
            </a:pPr>
            <a:r>
              <a:t>Dept of Computer Science &amp; Engineering</a:t>
            </a:r>
            <a:br/>
            <a:r>
              <a:t>ElevateIQ Tech Labs</a:t>
            </a:r>
          </a:p>
          <a:p>
            <a:pPr>
              <a:spcBef>
                <a:spcPts val="800"/>
              </a:spcBef>
              <a:defRPr sz="1000" b="1">
                <a:solidFill>
                  <a:srgbClr val="38BDF8"/>
                </a:solidFill>
                <a:latin typeface="Segoe UI"/>
              </a:defRPr>
            </a:pPr>
            <a:r>
              <a:t>DATE &amp; ACADEMIC YEAR</a:t>
            </a:r>
          </a:p>
          <a:p>
            <a:pPr>
              <a:defRPr sz="1300">
                <a:solidFill>
                  <a:srgbClr val="F8FAFC"/>
                </a:solidFill>
                <a:latin typeface="Segoe UI"/>
              </a:defRPr>
            </a:pPr>
            <a: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3657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3840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PROJECT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Introduction &amp; Project Motivation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09728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Segoe UI"/>
              </a:defRPr>
            </a:pPr>
            <a:r>
              <a:t>Project Enti? (What is it?)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ClientSphere is a high-performance, production-oriented mobile Customer Relationship Management (CRM) application built natively using Flutter and Dart (Material 3). It centralizes customer lifecycle management, deal pipeline forecasting, and sales tasks into a cohesive mobile interface.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1069848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200400"/>
            <a:ext cx="109728" cy="13258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9184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Segoe UI"/>
              </a:defRPr>
            </a:pPr>
            <a:r>
              <a:t>Enduku Choose Chesaru? (Why Choose This?)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Most enterprise CRMs (Salesforce, HubSpot) are bulky, expensive, and rely on heavy hybrid web wrappers that drain mobile device batteries and exhibit lag. We chose to build a native, lightweight, zero-dependency CRM architecture optimized for mobile sales representatives on the go.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54880"/>
            <a:ext cx="1069848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754880"/>
            <a:ext cx="109728" cy="1325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84632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Short Background &amp; Scope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In modern B2B sales, speed and ergonomics dictate conversion rates. Field agents require instant record lookups, offline-ready state containers, and unified touch interaction across phone and tablet form factors without complex configuration or third-party tracking bloat.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3657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3840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Problem Statement &amp; Industry Pain 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563EB"/>
                </a:solidFill>
                <a:latin typeface="Segoe UI"/>
              </a:defRPr>
            </a:pPr>
            <a:r>
              <a:t>01</a:t>
            </a:r>
          </a:p>
          <a:p>
            <a:pPr>
              <a:spcBef>
                <a:spcPts val="800"/>
              </a:spcBef>
              <a:defRPr sz="1600" b="1">
                <a:solidFill>
                  <a:srgbClr val="0F172A"/>
                </a:solidFill>
                <a:latin typeface="Segoe UI"/>
              </a:defRPr>
            </a:pPr>
            <a:r>
              <a:t>Existing Problem Enti?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Sales data fragmentation across desktop portals, spreadsheets, and sluggish web-view wrappers makes timely customer interaction difficult for mobile teams.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9202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563EB"/>
                </a:solidFill>
                <a:latin typeface="Segoe UI"/>
              </a:defRPr>
            </a:pPr>
            <a:r>
              <a:t>02</a:t>
            </a:r>
          </a:p>
          <a:p>
            <a:pPr>
              <a:spcBef>
                <a:spcPts val="800"/>
              </a:spcBef>
              <a:defRPr sz="1600" b="1">
                <a:solidFill>
                  <a:srgbClr val="0F172A"/>
                </a:solidFill>
                <a:latin typeface="Segoe UI"/>
              </a:defRPr>
            </a:pPr>
            <a:r>
              <a:t>Evariki Problem? (Target Users)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Field sales reps, account managers, business development representatives, and sales executives who require real-time pipeline visibility on mobile devices.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9202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563EB"/>
                </a:solidFill>
                <a:latin typeface="Segoe UI"/>
              </a:defRPr>
            </a:pPr>
            <a:r>
              <a:t>03</a:t>
            </a:r>
          </a:p>
          <a:p>
            <a:pPr>
              <a:spcBef>
                <a:spcPts val="800"/>
              </a:spcBef>
              <a:defRPr sz="1600" b="1">
                <a:solidFill>
                  <a:srgbClr val="0F172A"/>
                </a:solidFill>
                <a:latin typeface="Segoe UI"/>
              </a:defRPr>
            </a:pPr>
            <a:r>
              <a:t>Current Method Limitations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High latency, clunky non-native touch gestures, rigid licensing costs, lack of responsive tablet/desktop adaptation, and vulnerability to third-party package breakages.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3657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3840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PROJECT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Project Objectives &amp; Core Goals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73736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664207"/>
            <a:ext cx="9509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Production-Grade Cross-Platform Engine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Develop an Android &amp; iOS ready mobile CRM with Flutter 3.47 and Dart 3.13, ensuring 60/120 FPS native responsiveness.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14600"/>
            <a:ext cx="1069848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69748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624328"/>
            <a:ext cx="9509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Strict Zero-Dependency Reusable UI Foundation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Establish a centralized token architecture (colors, typography, radii, spacing, Material 3 Light/Dark) with 0 third-party packages.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74720"/>
            <a:ext cx="1069848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" y="365760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584448"/>
            <a:ext cx="9509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Responsive Dual-Mode Navigation Shell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Build an adaptive navigation system featuring a touch-friendly bottom bar on phones (&lt;600dp) and an auto-scrolling rail on tablets/desktops (&gt;=600dp).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34840"/>
            <a:ext cx="1069848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5840" y="461772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544568"/>
            <a:ext cx="9509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Standardized Enterprise Component Suite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Create reusable inputs, KPI cards, safe error boundaries, empty states, entity list tiles, detail headers, filter bars, and sort bottom sheets.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94960"/>
            <a:ext cx="1069848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57784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5504688"/>
            <a:ext cx="9509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Decoupled Engineering Handover &amp; Test Coverage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Guarantee seamless collaboration where Person 1 (domain/logic) and Person 2 (UI/UX) operate independently with 100% automated test pass rate.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3657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3840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CURRENT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Existing System Analysis &amp; Bottlenecks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How the Present System Works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Traditional web portals designed primarily for 24-inch desktop monitors.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Mobile apps built as thin Cordova/Capacitor web-views wrapped in an APK shell.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Heavy reliance on constant high-bandwidth internet; fails during offline field visits.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Monolithic codebases where UI and business logic are tightly coupled together.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High memory footprints exceeding 250MB+ on mobile hardware.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F4444"/>
                </a:solidFill>
                <a:latin typeface="Segoe UI"/>
              </a:defRPr>
            </a:pPr>
            <a:r>
              <a:t>Identified Disadvantages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Sluggish Frame Rates: Web-view jank leads to frustrated field sales personnel.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Non-Responsive: No adaptation when users switch between phones, foldables, and tablets.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High Subscription Overhead: Rigid per-user monthly SaaS licensing fees.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Security &amp; Dependency Risks: Over 80+ third-party npm/flutter dependencies in typical apps.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Fragile Maintenance: Modifying UI logic often breaks background data sync and vice versa.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3657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3840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Proposed System: ClientSphere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09728" cy="2011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Segoe UI"/>
              </a:defRPr>
            </a:pPr>
            <a:r>
              <a:t>Native Flutter Engine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Direct compilation to ARM64 native machine code via Skia/Impeller, guaranteeing 60/120 FPS and fluid tactile feedback.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109728" cy="20116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4C7"/>
                </a:solidFill>
                <a:latin typeface="Segoe UI"/>
              </a:defRPr>
            </a:pPr>
            <a:r>
              <a:t>Adaptive Shell Foundation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Dynamically adjusts navigation between mobile phones (BottomNavigationBar + 'More' Sheet) and tablets (Side NavigationRail).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931920"/>
            <a:ext cx="109728" cy="2011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14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Segoe UI"/>
              </a:defRPr>
            </a:pPr>
            <a:r>
              <a:t>Zero-Dependency Token System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Centralized, first-party Material 3 token architecture supporting dynamic Light/Dark mode toggling without app restart.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3931920"/>
            <a:ext cx="109728" cy="2011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114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Strict Architectural Decoupling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Rigid division between Person 1 (Domain, API, Logic) and Person 2 (UI/UX, Navigation, Presentation) via pluggable module interfaces.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3657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3840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SYSTEM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Engineering Methodology &amp; Phased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72768"/>
            <a:ext cx="137160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53619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Phase 1: Environment: </a:t>
            </a:r>
            <a:r>
              <a:rPr b="0">
                <a:solidFill>
                  <a:srgbClr val="64748B"/>
                </a:solidFill>
              </a:rPr>
              <a:t>Verified Flutter 3.47 SDK, Dart 3.13, Android toolchains with zero external dependencies.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67128"/>
            <a:ext cx="1069848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276856"/>
            <a:ext cx="137160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24028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Phase 2: Theme Tokens: </a:t>
            </a:r>
            <a:r>
              <a:rPr b="0">
                <a:solidFill>
                  <a:srgbClr val="64748B"/>
                </a:solidFill>
              </a:rPr>
              <a:t>Engineered AppColors, AppSpacing, AppRadius, AppTypography &amp; ThemeScope (Light/Dark).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71216"/>
            <a:ext cx="1069848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2980944"/>
            <a:ext cx="137160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9443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Phase 3: Form Components: </a:t>
            </a:r>
            <a:r>
              <a:rPr b="0">
                <a:solidFill>
                  <a:srgbClr val="64748B"/>
                </a:solidFill>
              </a:rPr>
              <a:t>Built AppPrimaryButton, AppSecondaryButton, AppIconButton, AppTextField &amp; AppSearchField.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75304"/>
            <a:ext cx="1069848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3685032"/>
            <a:ext cx="137160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STEP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648456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Phase 4: Containers &amp; States: </a:t>
            </a:r>
            <a:r>
              <a:rPr b="0">
                <a:solidFill>
                  <a:srgbClr val="64748B"/>
                </a:solidFill>
              </a:rPr>
              <a:t>Constructed AppCard, AppMetricCard, AppLoadingIndicator, AppEmptyState &amp; AppErrorState.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79392"/>
            <a:ext cx="1069848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4389120"/>
            <a:ext cx="137160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STEP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352544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Phase 5: Navigation Shell: </a:t>
            </a:r>
            <a:r>
              <a:rPr b="0">
                <a:solidFill>
                  <a:srgbClr val="64748B"/>
                </a:solidFill>
              </a:rPr>
              <a:t>Assembled responsive AppShell (BottomBar / NavigationRail) &amp; CrmDestination for 10 modules.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983480"/>
            <a:ext cx="1069848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" y="5093208"/>
            <a:ext cx="137160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STEP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505663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Phase 6: Module Patterns: </a:t>
            </a:r>
            <a:r>
              <a:rPr b="0">
                <a:solidFill>
                  <a:srgbClr val="64748B"/>
                </a:solidFill>
              </a:rPr>
              <a:t>Designed AppEntityTile, AppSectionHeader, AppFormSection, AppDetailHeader &amp; AppFilterBar.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687568"/>
            <a:ext cx="1069848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4400" y="5797296"/>
            <a:ext cx="137160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STEP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576072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Phase 7: Test Verification: </a:t>
            </a:r>
            <a:r>
              <a:rPr b="0">
                <a:solidFill>
                  <a:srgbClr val="64748B"/>
                </a:solidFill>
              </a:rPr>
              <a:t>Implemented 58 automated unit/widget tests and verified with flutter analyze (0 errors).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3657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3840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TECH SPECIFICATIONS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Technology Stack &amp; Toolchain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Segoe UI"/>
              </a:defRPr>
            </a:pPr>
            <a:r>
              <a:t>Frontend &amp; UI Framework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Flutter SDK 3.47.2 (Channel stable)</a:t>
            </a:r>
            <a:br/>
            <a:r>
              <a:t>Material Design 3 (M3 Specification)</a:t>
            </a:r>
            <a:br/>
            <a:r>
              <a:t>Impeller / Skia Native Rendering Engine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645920"/>
            <a:ext cx="338328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  <a:latin typeface="Segoe UI"/>
              </a:defRPr>
            </a:pPr>
            <a:r>
              <a:t>Programming Language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Dart 3.13.2</a:t>
            </a:r>
            <a:br/>
            <a:r>
              <a:t>Strict Null Safety</a:t>
            </a:r>
            <a:br/>
            <a:r>
              <a:t>AOT (Ahead-Of-Time) Compilation for Release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645920"/>
            <a:ext cx="33832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288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State Management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100% Native Flutter Reactive Primitives</a:t>
            </a:r>
            <a:br/>
            <a:r>
              <a:t>ValueNotifier &amp; ChangeNotifier</a:t>
            </a:r>
            <a:br/>
            <a:r>
              <a:t>InheritedNotifier (ThemeScope, NavigationScope)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33832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023360"/>
            <a:ext cx="3383280" cy="731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20624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Target Platforms &amp; OS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Primary: Android API 21+ (Lollipop to 15)</a:t>
            </a:r>
            <a:br/>
            <a:r>
              <a:t>Secondary: iOS 12+ (Architecture Ready)</a:t>
            </a:r>
            <a:br/>
            <a:r>
              <a:t>Responsive: Phone, Foldable, Tablet, Desktop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023360"/>
            <a:ext cx="33832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4023360"/>
            <a:ext cx="33832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420624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Segoe UI"/>
              </a:defRPr>
            </a:pPr>
            <a:r>
              <a:t>Testing &amp; Quality Assurance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Flutter Test (flutter_test suite)</a:t>
            </a:r>
            <a:br/>
            <a:r>
              <a:t>Dart Static Analyzer (flutter analyze)</a:t>
            </a:r>
            <a:br/>
            <a:r>
              <a:t>Flutter Lints 5.0 (Strict Rule Enforcement)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4023360"/>
            <a:ext cx="33832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4023360"/>
            <a:ext cx="338328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420624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  <a:latin typeface="Segoe UI"/>
              </a:defRPr>
            </a:pPr>
            <a:r>
              <a:t>Zero 3rd-Party Dependencies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Zero external npm or pub.dev runtime packages</a:t>
            </a:r>
            <a:br/>
            <a:r>
              <a:t>Total control over intellectual property &amp; licensing</a:t>
            </a:r>
            <a:br/>
            <a:r>
              <a:t>Immune to open-source supply-chain exploits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3657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3840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STRUCTURAL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System Architecture &amp; Layer Separation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69848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3716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81912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Layer 1: Design Tokens &amp; Foundations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AppColors (Light/Dark, semantic CRM pipeline stages) | AppSpacing (4dp to 48dp system) | AppRadius (4dp to pill) | AppTypography (M3 scales) | ThemeController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1069848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468880"/>
            <a:ext cx="137160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542032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Layer 2: Core Atomic &amp; Composite Components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Buttons: AppPrimaryButton, AppSecondaryButton, AppIconButton</a:t>
            </a:r>
            <a:br/>
            <a:r>
              <a:t>Inputs: AppTextField, AppSearchField (with native debouncing)</a:t>
            </a:r>
            <a:br/>
            <a:r>
              <a:t>Containers &amp; States: AppCard, AppMetricCard, AppEmptyState, AppErrorState, AppLoadingIndicator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69848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429000"/>
            <a:ext cx="137160" cy="8686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502152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Segoe UI"/>
              </a:defRPr>
            </a:pPr>
            <a:r>
              <a:t>Layer 3: Responsive Navigation &amp; Application Shell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ResponsiveBreakpoints (&lt;600dp phone, &gt;=600dp tablet) | AppShell dual-shell | AppTopBar (search, badges, theme toggle) | NavigationController &amp; CrmDestination registry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89120"/>
            <a:ext cx="1069848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389120"/>
            <a:ext cx="137160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462272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Layer 4: Module Presentation Patterns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AppEntityTile (avatars, badges, trailing meta) | AppSectionHeader | AppFormSection (field grouping) | AppDetailHeader (hero) | AppInfoRow | AppFilterBar | AppSortBottomSheet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49240"/>
            <a:ext cx="1069848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5349240"/>
            <a:ext cx="137160" cy="8686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422392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4748B"/>
                </a:solidFill>
                <a:latin typeface="Segoe UI"/>
              </a:defRPr>
            </a:pPr>
            <a:r>
              <a:t>Layer 5: Domain &amp; Business Boundary (Person 1 Handover)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Clean pluggable module builders interface: Map&lt;CrmDestination, WidgetBuilder&gt; moduleBuilders.</a:t>
            </a:r>
            <a:br/>
            <a:r>
              <a:t>Allows Person 1 to mount Leads, Customers, Deals, Tasks without touching UI foundation internals.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3657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3840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CORE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Component Implementation Highlights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64207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Segoe UI"/>
              </a:defRPr>
            </a:pPr>
            <a:r>
              <a:t>M1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645920"/>
            <a:ext cx="9509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Theme &amp; Token Engine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Configured Material 3 ColorScheme with custom CRM semantic stages (Lead, Qualified, Proposal, Won, Lost). Implemented ThemeController with reactive ThemeScope InheritedNotifier.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14600"/>
            <a:ext cx="1069848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24328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Segoe UI"/>
              </a:defRPr>
            </a:pPr>
            <a:r>
              <a:t>M2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606040"/>
            <a:ext cx="9509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Interactive Form Elements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Created accessible AppTextField with error styling and password visibility toggles. Developed AppSearchField with native dart:async debouncing (300ms) to minimize search query load.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74720"/>
            <a:ext cx="1069848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84448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Segoe UI"/>
              </a:defRPr>
            </a:pPr>
            <a:r>
              <a:t>M3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566160"/>
            <a:ext cx="9509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KPI Metrics &amp; State Views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Engineered AppMetricCard featuring trend indicators (positive, negative, neutral) with color badges. Built user-safe AppErrorState and AppEmptyState with zero placeholder mock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34840"/>
            <a:ext cx="1069848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44568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Segoe UI"/>
              </a:defRPr>
            </a:pPr>
            <a:r>
              <a:t>M4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526280"/>
            <a:ext cx="9509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Responsive AppShell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Automated layout transitions: BottomNavigationBar on compact screens (&lt;600dp) with modal 'More' sheet; vertical scrolling NavigationRail on tablet/desktop (&gt;=600dp).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94960"/>
            <a:ext cx="1069848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504688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Segoe UI"/>
              </a:defRPr>
            </a:pPr>
            <a:r>
              <a:t>M5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5486400"/>
            <a:ext cx="9509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CRM Presentation Patterns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Designed AppEntityTile with dynamic avatar generator and status pill. Standardized AppFormSection, AppDetailHeader, AppInfoRow, AppFilterBar, and AppSortBottomSheet.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3657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3840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QUALITY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Validation Results &amp; Test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1460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Segoe UI"/>
              </a:defRPr>
            </a:pPr>
            <a:r>
              <a:t>58 / 58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TESTS PASSED</a:t>
            </a:r>
          </a:p>
          <a:p>
            <a:pPr algn="ctr">
              <a:spcBef>
                <a:spcPts val="4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100% automated test pass rate across 7 test suites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51460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79" y="182880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  <a:latin typeface="Segoe UI"/>
              </a:defRPr>
            </a:pPr>
            <a:r>
              <a:t>0 ISSUES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FLUTTER ANALYZE</a:t>
            </a:r>
          </a:p>
          <a:p>
            <a:pPr algn="ctr">
              <a:spcBef>
                <a:spcPts val="4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Strict zero warnings, zero errors, zero lints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51460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284C7"/>
                </a:solidFill>
                <a:latin typeface="Segoe UI"/>
              </a:defRPr>
            </a:pPr>
            <a:r>
              <a:t>2,400+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MEANINGFUL LOC</a:t>
            </a:r>
          </a:p>
          <a:p>
            <a:pPr algn="ctr">
              <a:spcBef>
                <a:spcPts val="4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100% first-party code across core components and tests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51460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182880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10 MODULES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CRM COVERAGE</a:t>
            </a:r>
          </a:p>
          <a:p>
            <a:pPr algn="ctr">
              <a:spcBef>
                <a:spcPts val="4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Pre-wired navigation registry for full CRM lifecycle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1069848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14800"/>
            <a:ext cx="10149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Comprehensive Test Suite Breakdown</a:t>
            </a:r>
          </a:p>
          <a:p>
            <a:pPr>
              <a:spcBef>
                <a:spcPts val="15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• test/theme_tokens_test.dart: 15 tests (Colors, Spacing, Typography, Radius, Light/Dark Modes)</a:t>
            </a:r>
          </a:p>
          <a:p>
            <a:pPr>
              <a:spcBef>
                <a:spcPts val="15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• test/components/buttons_test.dart: 7 tests (Primary, Secondary, Icon buttons &amp; loading states)</a:t>
            </a:r>
          </a:p>
          <a:p>
            <a:pPr>
              <a:spcBef>
                <a:spcPts val="15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• test/components/inputs_test.dart: 5 tests (Form text fields, password visibility, 300ms search debounce)</a:t>
            </a:r>
          </a:p>
          <a:p>
            <a:pPr>
              <a:spcBef>
                <a:spcPts val="15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• test/components/cards_test.dart: 7 tests (Base cards, Metric cards, positive/negative/neutral trend badges)</a:t>
            </a:r>
          </a:p>
          <a:p>
            <a:pPr>
              <a:spcBef>
                <a:spcPts val="15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• test/components/states_test.dart: 5 tests (Standard/compact loading spinners, empty views, safe error retries)</a:t>
            </a:r>
          </a:p>
          <a:p>
            <a:pPr>
              <a:spcBef>
                <a:spcPts val="15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• test/navigation/navigation_test.dart: 8 tests (Mobile bottom bar, tablet rail, 'More' sheet, badge counts)</a:t>
            </a:r>
          </a:p>
          <a:p>
            <a:pPr>
              <a:spcBef>
                <a:spcPts val="15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• test/components/patterns_test.dart: 8 tests (Entity tiles, section headers, form grouping, detail hero, filter bar)</a:t>
            </a:r>
          </a:p>
          <a:p>
            <a:pPr>
              <a:spcBef>
                <a:spcPts val="15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• test/app_foundation_widget_test.dart: 3 tests (End-to-end bootstrap, theme toggle, state view switcher)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3657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3840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BENEFITS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Key Architectural Advantages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91440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55648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Segoe UI"/>
              </a:defRPr>
            </a:pPr>
            <a:r>
              <a:t>Peak Native Performance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Compiled directly to native ARM code without JavaScript bridges or DOM recalculations, ensuring instant response and minimal battery usage on field devices.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91440" cy="14173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55648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  <a:latin typeface="Segoe UI"/>
              </a:defRPr>
            </a:pPr>
            <a:r>
              <a:t>100% Dependency Immunity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Zero third-party packages prevents breaking downstream version changes, security vulnerabilities, and malicious supply chain attacks.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52120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200400"/>
            <a:ext cx="9144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310128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Universal Form-Factor Adaptability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A single codebase adapts fluidly from compact mobile phones (&lt;600dp) to foldables, Android tablets, and desktop workstations (&gt;=600dp).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200400"/>
            <a:ext cx="52120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3200400"/>
            <a:ext cx="91440" cy="1417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310128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Pixel-Perfect Visual Harmony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Every spacing, border-radius, color tint, and font weight is mathematically derived from centralized tokens in both Light and Dark themes.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54880"/>
            <a:ext cx="52120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754880"/>
            <a:ext cx="91440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864608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Segoe UI"/>
              </a:defRPr>
            </a:pPr>
            <a:r>
              <a:t>3x Accelerated Module Development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Person 1 can implement domain screens (Leads, Deals, Accounts) immediately by assembling pre-tested UI components without writing raw layout code.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754880"/>
            <a:ext cx="52120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4754880"/>
            <a:ext cx="91440" cy="14173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864608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  <a:latin typeface="Segoe UI"/>
              </a:defRPr>
            </a:pPr>
            <a:r>
              <a:t>Automated Quality Assurance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Built-in automated test suites guarantee that future additions or refactors will never cause silent regressions in core UI behaviors.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3657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3840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BOUNDARIES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Current System Limitations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Current Limitations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Target Platform: Android is the currently verified physical target; iOS compilation requires macOS infrastructure.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Module Screen Logic: Actual CRM domain business logic, data models, and REST/GraphQL API connections are in staging for Person 1.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Hardware Integrations: Native camera (card scanner), contacts phonebook sync, and biometric authentication are deferred to device integration phase.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Live Push Notifications: Native Firebase Cloud Messaging (FCM) daemon is not yet connected to the notification badge controller.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4748B"/>
                </a:solidFill>
                <a:latin typeface="Segoe UI"/>
              </a:defRPr>
            </a:pPr>
            <a:r>
              <a:t>What is Not Covered in This Phase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Backend Database Schema: PostgreSQL / MongoDB database tables and server-side ORM mapping.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User Authentication Server: OAuth2 / JWT authentication backend services and token refresh rotators.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Offline Conflict Resolution: Complex two-way sync delta algorithms for multi-device offline editing.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Payment Processing: In-app Stripe/Razorpay subscription billing or contract payment gateways.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3657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3840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EVOLUTION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Future Roadmap &amp; Planned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09728" cy="2011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Segoe UI"/>
              </a:defRPr>
            </a:pPr>
            <a:r>
              <a:t>AI-Powered Sales Insights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Integrate on-device or cloud LLM models to provide automated lead scoring, email drafting, meeting transcript summarization, and next-best-action guidance.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109728" cy="20116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4C7"/>
                </a:solidFill>
                <a:latin typeface="Segoe UI"/>
              </a:defRPr>
            </a:pPr>
            <a:r>
              <a:t>Offline-First SQLite Engine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Deploy a local SQLite cache with background synchronization, allowing full read/write operations with automatic conflict resolution upon reconnection.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931920"/>
            <a:ext cx="109728" cy="2011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14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Segoe UI"/>
              </a:defRPr>
            </a:pPr>
            <a:r>
              <a:t>Real-Time WebSocket Sync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Enable real-time collaborative pipeline editing, live chat with clients, and instant push notifications when deals progress through stages.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3931920"/>
            <a:ext cx="109728" cy="2011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114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Document &amp; PDF Invoice Generator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Allow sales agents to generate signed quotes, sales agreements, and PDF invoices on-the-fly and dispatch them via WhatsApp or email.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3657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3840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FINAL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Project Conclusion &amp; Key Takeaways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874519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783080"/>
            <a:ext cx="9418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Complete UI/UX Foundation Delivered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Successfully engineered a modern, enterprise-grade mobile CRM UI foundation with 100% native Flutter and Dart capabilities, zero third-party dependencies, and zero IP risks.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88920"/>
            <a:ext cx="1069848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301752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926079"/>
            <a:ext cx="9418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15+ Reusable Production Components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Constructed atomic and composite patterns including AppPrimaryButton, AppTextField, AppSearchField, AppMetricCard, AppEntityTile, AppFormSection, AppDetailHeader, and AppFilterBar.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1069848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" y="416052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069080"/>
            <a:ext cx="9418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Adaptive Multi-Form-Factor Shell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Delivered AppShell supporting both compact phone navigation (BottomBar + modal More drawer) and tablet/desktop productivity (scrollable NavigationRail).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74920"/>
            <a:ext cx="1069848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5840" y="530352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5212080"/>
            <a:ext cx="9418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100% Test Pass Rate &amp; Zero Defects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  <a:latin typeface="Segoe UI"/>
              </a:defRPr>
            </a:pPr>
            <a:r>
              <a:t>Maintained exceptional code quality with 58 passing automated tests and zero warnings in flutter analyze, ensuring complete architectural readiness for Person 1.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3657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3840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BIBLIOGRAPHY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References &amp; Technical Documentation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19072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[1] Flutter Framework Documentation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Official Google Flutter Developer Documentation, Material 3 Design Specifications &amp; Impeller Rendering Architecture (2026). https://docs.flutter.dev/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1069848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633472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[2] Dart Language Specification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Google Dart Language Guide: Sound Null Safety, Asynchronous Programming &amp; Effective Dart Standards (2026). https://dart.dev/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1069848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547872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[3] Material Design 3 (M3) Design System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Google Design: Color Roles, Dynamic Theming, Surface Elevations, and Responsive Layout Breakpoints. https://m3.material.io/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89120"/>
            <a:ext cx="1069848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462272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[4] Clean Architecture &amp; Domain Decoupling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Martin, Robert C. (Uncle Bob). 'Clean Architecture: A Craftsman's Guide to Software Structure and Design', Prentice Hall.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03520"/>
            <a:ext cx="1069848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376672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[5] Enterprise CRM Usability &amp; Field Ergonomics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Nielsen Norman Group (NN/g): 'Mobile CRM User Experience &amp; Workflow Efficiency Research' &amp; Interaction Design Foundation.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011680" y="1371600"/>
            <a:ext cx="8168335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1828800"/>
            <a:ext cx="76196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FAFC"/>
                </a:solidFill>
                <a:latin typeface="Segoe UI"/>
              </a:defRPr>
            </a:pPr>
            <a:r>
              <a:t>THANK YOU!</a:t>
            </a:r>
          </a:p>
          <a:p>
            <a:pPr algn="ctr">
              <a:spcBef>
                <a:spcPts val="800"/>
              </a:spcBef>
              <a:defRPr sz="2200" b="1">
                <a:solidFill>
                  <a:srgbClr val="38BDF8"/>
                </a:solidFill>
                <a:latin typeface="Segoe UI"/>
              </a:defRPr>
            </a:pPr>
            <a:r>
              <a:t>Questions &amp; Answers (Q&amp;A)</a:t>
            </a:r>
          </a:p>
          <a:p>
            <a:pPr algn="ctr">
              <a:spcBef>
                <a:spcPts val="16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ClientSphere CRM Project • Ready for Person 1 Domain Integration</a:t>
            </a:r>
            <a:br/>
            <a:r>
              <a:t>Flutter SDK 3.47 • Dart 3.13 • Material 3 • 100% Native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